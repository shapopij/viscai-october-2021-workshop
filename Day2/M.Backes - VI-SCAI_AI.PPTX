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3" r:id="rId1"/>
    <p:sldMasterId id="2147483725" r:id="rId2"/>
  </p:sldMasterIdLst>
  <p:notesMasterIdLst>
    <p:notesMasterId r:id="rId12"/>
  </p:notesMasterIdLst>
  <p:sldIdLst>
    <p:sldId id="256" r:id="rId3"/>
    <p:sldId id="383" r:id="rId4"/>
    <p:sldId id="382" r:id="rId5"/>
    <p:sldId id="386" r:id="rId6"/>
    <p:sldId id="387" r:id="rId7"/>
    <p:sldId id="388" r:id="rId8"/>
    <p:sldId id="389" r:id="rId9"/>
    <p:sldId id="390" r:id="rId10"/>
    <p:sldId id="260" r:id="rId1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 autoAdjust="0"/>
  </p:normalViewPr>
  <p:slideViewPr>
    <p:cSldViewPr snapToGrid="0">
      <p:cViewPr varScale="1">
        <p:scale>
          <a:sx n="76" d="100"/>
          <a:sy n="76" d="100"/>
        </p:scale>
        <p:origin x="139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01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D40C6-E9EF-4644-AC77-11B7FEEC8C38}" type="datetimeFigureOut">
              <a:rPr lang="en-ZA" smtClean="0"/>
              <a:t>2021/10/22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5B090C-E8D0-49EF-BAEE-80D7114504BB}" type="slidenum">
              <a:rPr lang="en-ZA" smtClean="0"/>
              <a:t>‹Nr.›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1040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B090C-E8D0-49EF-BAEE-80D7114504BB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15096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B090C-E8D0-49EF-BAEE-80D7114504BB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39282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B090C-E8D0-49EF-BAEE-80D7114504BB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7674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4213"/>
            <a:ext cx="4573588" cy="3430587"/>
          </a:xfrm>
          <a:ln/>
        </p:spPr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5815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4213"/>
            <a:ext cx="4573588" cy="3430587"/>
          </a:xfrm>
          <a:ln/>
        </p:spPr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3021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4213"/>
            <a:ext cx="4573588" cy="3430587"/>
          </a:xfrm>
          <a:ln/>
        </p:spPr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5168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4213"/>
            <a:ext cx="4573588" cy="3430587"/>
          </a:xfrm>
          <a:ln/>
        </p:spPr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8258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4213"/>
            <a:ext cx="4573588" cy="3430587"/>
          </a:xfrm>
          <a:ln/>
        </p:spPr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3500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19/10/2021                       HPC workshop, vitual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ZA"/>
              <a:t>M. Backes: VISCAI &amp; Artificial Intelligence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B7710-06A2-4FC9-B310-8A7DF0A32C40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81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19/10/2021                       HPC workshop, vitual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ZA"/>
              <a:t>M. Backes: VISCAI &amp; Artificial Intelligence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55E635-1D49-4BC1-B347-A282E4DE959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24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19/10/2021                       HPC workshop, vitual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ZA"/>
              <a:t>M. Backes: VISCAI &amp; Artificial Intelligence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E14CC4-B65D-4605-8ED8-FBEF9DE5DAB9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87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19/10/2021                       HPC workshop, vitual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ZA"/>
              <a:t>M. Backes: VISCAI &amp; Artificial Intelligence 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16CDB6-96D8-408E-956B-018BBFA131F1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279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19/10/2021                       HPC workshop, vitual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ZA"/>
              <a:t>M. Backes: VISCAI &amp; Artificial Intelligence 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4CFD3D-5062-4D1C-A649-0AB04170DBBF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555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19/10/2021                       HPC workshop, vitual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ZA"/>
              <a:t>M. Backes: VISCAI &amp; Artificial Intelligence 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280ADE-32BC-4FE6-9A1C-DFE4EB953A8C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9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19/10/2021                       HPC workshop, vitual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ZA"/>
              <a:t>M. Backes: VISCAI &amp; Artificial Intelligence 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02B3D-44F2-4E06-95DB-170A02B18166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80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19/10/2021                       HPC workshop, vitual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ZA"/>
              <a:t>M. Backes: VISCAI &amp; Artificial Intelligence 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30AAFF-C690-4924-B2C1-3605C6E289D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09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19/10/2021                       HPC workshop, vitual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ZA"/>
              <a:t>M. Backes: VISCAI &amp; Artificial Intelligence 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E7DCB8-A8A0-4536-99B6-8BA1DEA451A4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35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19/10/2021                       HPC workshop, vitual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ZA"/>
              <a:t>M. Backes: VISCAI &amp; Artificial Intelligence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270786-47D1-46FD-ACF0-829E31A96F8C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321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19/10/2021                       HPC workshop, vitual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ZA"/>
              <a:t>M. Backes: VISCAI &amp; Artificial Intelligence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96DDB9-71A2-4DF3-8783-A420B0669B63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47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6598254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de-DE">
                <a:solidFill>
                  <a:srgbClr val="FFB81C"/>
                </a:solidFill>
              </a:rPr>
              <a:t>19/10/2021                       HPC workshop, vitual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3792" y="6356350"/>
            <a:ext cx="45712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en-ZA">
                <a:solidFill>
                  <a:srgbClr val="FFB81C"/>
                </a:solidFill>
              </a:rPr>
              <a:t>M. Backes: VISCAI &amp; Artificial Intelligence 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392" y="6352318"/>
            <a:ext cx="4953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512F5AEC-EFD2-4725-A33D-D6E439D8C452}" type="slidenum">
              <a:rPr lang="en-US" smtClean="0">
                <a:solidFill>
                  <a:srgbClr val="FFB81C"/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FFB8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568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6598254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de-DE">
                <a:solidFill>
                  <a:srgbClr val="FFB81C"/>
                </a:solidFill>
              </a:rPr>
              <a:t>19/10/2021                       HPC workshop, vitual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3792" y="6356350"/>
            <a:ext cx="45712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en-ZA">
                <a:solidFill>
                  <a:srgbClr val="FFB81C"/>
                </a:solidFill>
              </a:rPr>
              <a:t>M. Backes: VISCAI &amp; Artificial Intelligence 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392" y="6352318"/>
            <a:ext cx="4953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512F5AEC-EFD2-4725-A33D-D6E439D8C452}" type="slidenum">
              <a:rPr lang="en-US" smtClean="0">
                <a:solidFill>
                  <a:srgbClr val="FFB81C"/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FFB8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77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6598254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de-DE">
                <a:solidFill>
                  <a:srgbClr val="FFB81C"/>
                </a:solidFill>
              </a:rPr>
              <a:t>19/10/2021                       HPC workshop, vitual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3792" y="6356350"/>
            <a:ext cx="45712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en-ZA">
                <a:solidFill>
                  <a:srgbClr val="FFB81C"/>
                </a:solidFill>
              </a:rPr>
              <a:t>M. Backes: VISCAI &amp; Artificial Intelligence 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392" y="6352318"/>
            <a:ext cx="4953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512F5AEC-EFD2-4725-A33D-D6E439D8C452}" type="slidenum">
              <a:rPr lang="en-US" smtClean="0">
                <a:solidFill>
                  <a:srgbClr val="FFB81C"/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FFB8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34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598254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de-DE">
                <a:solidFill>
                  <a:srgbClr val="FFB81C"/>
                </a:solidFill>
              </a:rPr>
              <a:t>19/10/2021                       HPC workshop, vitual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3792" y="6356350"/>
            <a:ext cx="45712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en-ZA">
                <a:solidFill>
                  <a:srgbClr val="FFB81C"/>
                </a:solidFill>
              </a:rPr>
              <a:t>M. Backes: VISCAI &amp; Artificial Intelligence 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392" y="6352318"/>
            <a:ext cx="4953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512F5AEC-EFD2-4725-A33D-D6E439D8C452}" type="slidenum">
              <a:rPr lang="en-US" smtClean="0">
                <a:solidFill>
                  <a:srgbClr val="FFB81C"/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FFB8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46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713"/>
            <a:ext cx="7886700" cy="1325563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6598254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de-DE">
                <a:solidFill>
                  <a:srgbClr val="FFB81C"/>
                </a:solidFill>
              </a:rPr>
              <a:t>19/10/2021                       HPC workshop, vitual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43792" y="6356350"/>
            <a:ext cx="45712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en-ZA">
                <a:solidFill>
                  <a:srgbClr val="FFB81C"/>
                </a:solidFill>
              </a:rPr>
              <a:t>M. Backes: VISCAI &amp; Artificial Intelligence 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392" y="6352318"/>
            <a:ext cx="4953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512F5AEC-EFD2-4725-A33D-D6E439D8C452}" type="slidenum">
              <a:rPr lang="en-US" smtClean="0">
                <a:solidFill>
                  <a:srgbClr val="FFB81C"/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FFB8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43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849" y="-10011"/>
            <a:ext cx="8243501" cy="1325563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6598254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de-DE">
                <a:solidFill>
                  <a:srgbClr val="FFB81C"/>
                </a:solidFill>
              </a:rPr>
              <a:t>19/10/2021                       HPC workshop, vitual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3792" y="6356350"/>
            <a:ext cx="45712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en-ZA">
                <a:solidFill>
                  <a:srgbClr val="FFB81C"/>
                </a:solidFill>
              </a:rPr>
              <a:t>M. Backes: VISCAI &amp; Artificial Intelligence 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392" y="6352318"/>
            <a:ext cx="4953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512F5AEC-EFD2-4725-A33D-D6E439D8C452}" type="slidenum">
              <a:rPr lang="en-US" smtClean="0">
                <a:solidFill>
                  <a:srgbClr val="FFB81C"/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FFB8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288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6598254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de-DE">
                <a:solidFill>
                  <a:srgbClr val="FFB81C"/>
                </a:solidFill>
              </a:rPr>
              <a:t>19/10/2021                       HPC workshop, vitual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3792" y="6356350"/>
            <a:ext cx="45712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en-ZA">
                <a:solidFill>
                  <a:srgbClr val="FFB81C"/>
                </a:solidFill>
              </a:rPr>
              <a:t>M. Backes: VISCAI &amp; Artificial Intelligence 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392" y="6352318"/>
            <a:ext cx="4953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512F5AEC-EFD2-4725-A33D-D6E439D8C452}" type="slidenum">
              <a:rPr lang="en-US" smtClean="0">
                <a:solidFill>
                  <a:srgbClr val="FFB81C"/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FFB8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26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598254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de-DE">
                <a:solidFill>
                  <a:srgbClr val="FFB81C"/>
                </a:solidFill>
              </a:rPr>
              <a:t>19/10/2021                       HPC workshop, vitual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3792" y="6356350"/>
            <a:ext cx="45712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en-ZA">
                <a:solidFill>
                  <a:srgbClr val="FFB81C"/>
                </a:solidFill>
              </a:rPr>
              <a:t>M. Backes: VISCAI &amp; Artificial Intelligence 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392" y="6352318"/>
            <a:ext cx="4953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512F5AEC-EFD2-4725-A33D-D6E439D8C452}" type="slidenum">
              <a:rPr lang="en-US" smtClean="0">
                <a:solidFill>
                  <a:srgbClr val="FFB81C"/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FFB8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672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598254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de-DE">
                <a:solidFill>
                  <a:srgbClr val="FFB81C"/>
                </a:solidFill>
              </a:rPr>
              <a:t>19/10/2021                       HPC workshop, vitual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3792" y="6356350"/>
            <a:ext cx="45712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en-ZA">
                <a:solidFill>
                  <a:srgbClr val="FFB81C"/>
                </a:solidFill>
              </a:rPr>
              <a:t>M. Backes: VISCAI &amp; Artificial Intelligence 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392" y="6352318"/>
            <a:ext cx="4953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512F5AEC-EFD2-4725-A33D-D6E439D8C452}" type="slidenum">
              <a:rPr lang="en-US" smtClean="0">
                <a:solidFill>
                  <a:srgbClr val="FFB81C"/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FFB8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9336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598254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de-DE">
                <a:solidFill>
                  <a:srgbClr val="FFB81C"/>
                </a:solidFill>
              </a:rPr>
              <a:t>19/10/2021                       HPC workshop, vitual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3792" y="6356350"/>
            <a:ext cx="45712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en-ZA">
                <a:solidFill>
                  <a:srgbClr val="FFB81C"/>
                </a:solidFill>
              </a:rPr>
              <a:t>M. Backes: VISCAI &amp; Artificial Intelligence 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392" y="6352318"/>
            <a:ext cx="4953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512F5AEC-EFD2-4725-A33D-D6E439D8C452}" type="slidenum">
              <a:rPr lang="en-US" smtClean="0">
                <a:solidFill>
                  <a:srgbClr val="FFB81C"/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FFB8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3663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598254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de-DE">
                <a:solidFill>
                  <a:srgbClr val="FFB81C"/>
                </a:solidFill>
              </a:rPr>
              <a:t>19/10/2021                       HPC workshop, vitual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3792" y="6356350"/>
            <a:ext cx="45712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en-ZA">
                <a:solidFill>
                  <a:srgbClr val="FFB81C"/>
                </a:solidFill>
              </a:rPr>
              <a:t>M. Backes: VISCAI &amp; Artificial Intelligence 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392" y="6352318"/>
            <a:ext cx="4953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512F5AEC-EFD2-4725-A33D-D6E439D8C452}" type="slidenum">
              <a:rPr lang="en-US" smtClean="0">
                <a:solidFill>
                  <a:srgbClr val="FFB81C"/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FFB8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79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de-DE"/>
              <a:t>19/10/2021                       HPC workshop, vitual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ZA"/>
              <a:t>M. Backes: VISCAI &amp; Artificial Intelligence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12F5AEC-EFD2-4725-A33D-D6E439D8C452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-10011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98254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de-DE">
                <a:solidFill>
                  <a:srgbClr val="FFB81C"/>
                </a:solidFill>
              </a:rPr>
              <a:t>19/10/2021                       HPC workshop, vitual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3792" y="6356350"/>
            <a:ext cx="45712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en-ZA">
                <a:solidFill>
                  <a:srgbClr val="FFB81C"/>
                </a:solidFill>
              </a:rPr>
              <a:t>M. Backes: VISCAI &amp; Artificial Intelligence 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392" y="6352318"/>
            <a:ext cx="4953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512F5AEC-EFD2-4725-A33D-D6E439D8C452}" type="slidenum">
              <a:rPr lang="en-US" smtClean="0">
                <a:solidFill>
                  <a:srgbClr val="FFB81C"/>
                </a:solidFill>
              </a:rPr>
              <a:pPr>
                <a:defRPr/>
              </a:pPr>
              <a:t>‹Nr.›</a:t>
            </a:fld>
            <a:endParaRPr lang="en-US" dirty="0">
              <a:solidFill>
                <a:srgbClr val="FFB8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200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64568" y="1487584"/>
            <a:ext cx="7772400" cy="2468189"/>
          </a:xfrm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en-US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" panose="02000504050000020004" pitchFamily="2" charset="0"/>
              </a:rPr>
              <a:t>UNAM’s Virtual Institute for Scientific Computing and </a:t>
            </a:r>
            <a:r>
              <a:rPr lang="en-US" altLang="en-US" sz="48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" panose="02000504050000020004" pitchFamily="2" charset="0"/>
              </a:rPr>
              <a:t>Artificial Intelligence</a:t>
            </a:r>
            <a:endParaRPr lang="en-US" altLang="en-US" sz="1800" b="1" i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" panose="020005040500000200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99829" y="5718407"/>
            <a:ext cx="4248693" cy="1400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en-US" sz="2400" b="1" dirty="0">
                <a:solidFill>
                  <a:schemeClr val="bg1"/>
                </a:solidFill>
                <a:latin typeface="Gotham" panose="02000504050000020004" pitchFamily="2" charset="0"/>
              </a:rPr>
              <a:t>Prof Michael Backes</a:t>
            </a:r>
            <a:br>
              <a:rPr lang="en-US" altLang="en-US" sz="2400" b="1" dirty="0">
                <a:solidFill>
                  <a:schemeClr val="bg1"/>
                </a:solidFill>
                <a:latin typeface="Gotham" panose="02000504050000020004" pitchFamily="2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Gotham" panose="02000504050000020004" pitchFamily="2" charset="0"/>
              </a:rPr>
              <a:t>Department of Physics, Chemistry and Material Science</a:t>
            </a:r>
          </a:p>
          <a:p>
            <a:pPr algn="ctr">
              <a:spcBef>
                <a:spcPts val="600"/>
              </a:spcBef>
            </a:pPr>
            <a:endParaRPr lang="en-US" altLang="en-US" sz="2400" baseline="30000" dirty="0">
              <a:solidFill>
                <a:schemeClr val="bg1"/>
              </a:solidFill>
              <a:latin typeface="Gotham" panose="02000504050000020004" pitchFamily="2" charset="0"/>
            </a:endParaRPr>
          </a:p>
        </p:txBody>
      </p:sp>
      <p:pic>
        <p:nvPicPr>
          <p:cNvPr id="16" name="Picture 14" descr="https://globalyoungacademy.net/wp-content/themes/gya/_/img/logo-0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905" y="331653"/>
            <a:ext cx="2448234" cy="931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https://globalyoungacademy.net/wp-content/themes/gya/_/img/logo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28"/>
          <a:stretch/>
        </p:blipFill>
        <p:spPr bwMode="auto">
          <a:xfrm>
            <a:off x="1385449" y="331653"/>
            <a:ext cx="1471690" cy="932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How fabricators can be savvy consumers of cloud computi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4118" y="3900213"/>
            <a:ext cx="3362850" cy="1856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2955" y="-10011"/>
            <a:ext cx="8242395" cy="1325563"/>
          </a:xfrm>
        </p:spPr>
        <p:txBody>
          <a:bodyPr/>
          <a:lstStyle/>
          <a:p>
            <a:r>
              <a:rPr lang="en-US" dirty="0"/>
              <a:t>In SA: a National Institute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de-DE">
                <a:solidFill>
                  <a:srgbClr val="FFB81C"/>
                </a:solidFill>
              </a:rPr>
              <a:t>19/10/2021                       HPC workshop, vitual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ZA">
                <a:solidFill>
                  <a:srgbClr val="FFB81C"/>
                </a:solidFill>
              </a:rPr>
              <a:t>M. Backes: VISCAI &amp; Artificial Intelligence 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12F5AEC-EFD2-4725-A33D-D6E439D8C452}" type="slidenum">
              <a:rPr lang="en-US" smtClean="0">
                <a:solidFill>
                  <a:srgbClr val="FFB81C"/>
                </a:solidFill>
              </a:rPr>
              <a:pPr>
                <a:defRPr/>
              </a:pPr>
              <a:t>2</a:t>
            </a:fld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10" name="AutoShape 16" descr="https://portal.cta-observatory.org/WG/outreach/CTA%20Logo%20with%20Brand%20Name/BrandedLogo_RGB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89" b="32290"/>
          <a:stretch/>
        </p:blipFill>
        <p:spPr>
          <a:xfrm>
            <a:off x="857251" y="2125140"/>
            <a:ext cx="7351256" cy="4227178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10" t="5585" r="27998" b="86896"/>
          <a:stretch/>
        </p:blipFill>
        <p:spPr>
          <a:xfrm>
            <a:off x="3004116" y="1189826"/>
            <a:ext cx="3057525" cy="79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524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2955" y="-10011"/>
            <a:ext cx="8242395" cy="1325563"/>
          </a:xfrm>
        </p:spPr>
        <p:txBody>
          <a:bodyPr/>
          <a:lstStyle/>
          <a:p>
            <a:r>
              <a:rPr lang="en-US" dirty="0"/>
              <a:t>VI-SCAI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de-DE">
                <a:solidFill>
                  <a:srgbClr val="FFB81C"/>
                </a:solidFill>
              </a:rPr>
              <a:t>19/10/2021                       HPC workshop, vitual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ZA">
                <a:solidFill>
                  <a:srgbClr val="FFB81C"/>
                </a:solidFill>
              </a:rPr>
              <a:t>M. Backes: VISCAI &amp; Artificial Intelligence </a:t>
            </a:r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12F5AEC-EFD2-4725-A33D-D6E439D8C452}" type="slidenum">
              <a:rPr lang="en-US" smtClean="0">
                <a:solidFill>
                  <a:srgbClr val="FFB81C"/>
                </a:solidFill>
              </a:rPr>
              <a:pPr>
                <a:defRPr/>
              </a:pPr>
              <a:t>3</a:t>
            </a:fld>
            <a:endParaRPr lang="en-US" dirty="0">
              <a:solidFill>
                <a:srgbClr val="FFB81C"/>
              </a:solidFill>
            </a:endParaRPr>
          </a:p>
        </p:txBody>
      </p:sp>
      <p:sp>
        <p:nvSpPr>
          <p:cNvPr id="10" name="AutoShape 16" descr="https://portal.cta-observatory.org/WG/outreach/CTA%20Logo%20with%20Brand%20Name/BrandedLogo_RGB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sp>
        <p:nvSpPr>
          <p:cNvPr id="47" name="Rectangle 7"/>
          <p:cNvSpPr>
            <a:spLocks/>
          </p:cNvSpPr>
          <p:nvPr/>
        </p:nvSpPr>
        <p:spPr bwMode="auto">
          <a:xfrm>
            <a:off x="881743" y="1333191"/>
            <a:ext cx="7380514" cy="37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73050" indent="-273050" algn="ctr" eaLnBrk="1" hangingPunct="1">
              <a:lnSpc>
                <a:spcPct val="90000"/>
              </a:lnSpc>
              <a:spcBef>
                <a:spcPct val="20000"/>
              </a:spcBef>
              <a:buClr>
                <a:srgbClr val="FFB81C"/>
              </a:buClr>
              <a:buFont typeface="Wingdings 2" pitchFamily="18" charset="2"/>
              <a:buNone/>
            </a:pPr>
            <a:r>
              <a:rPr lang="en-US" sz="2600" b="1" dirty="0">
                <a:solidFill>
                  <a:prstClr val="black"/>
                </a:solidFill>
                <a:latin typeface="Calibri"/>
              </a:rPr>
              <a:t>Virtual Institute for Scientific Computing</a:t>
            </a:r>
            <a:br>
              <a:rPr lang="en-US" sz="2600" b="1" dirty="0">
                <a:solidFill>
                  <a:prstClr val="black"/>
                </a:solidFill>
                <a:latin typeface="Calibri"/>
              </a:rPr>
            </a:br>
            <a:r>
              <a:rPr lang="en-US" sz="2600" b="1" dirty="0">
                <a:solidFill>
                  <a:prstClr val="black"/>
                </a:solidFill>
                <a:latin typeface="Calibri"/>
              </a:rPr>
              <a:t>and Artificial Intelligence</a:t>
            </a:r>
          </a:p>
        </p:txBody>
      </p:sp>
      <p:pic>
        <p:nvPicPr>
          <p:cNvPr id="3074" name="Picture 2" descr="https://www.idia.ac.za/BigDataAfrica-2018/assets/images/bdschoo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5855" y="2073173"/>
            <a:ext cx="4733925" cy="2227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ttps://www.dlr.de/sc/en/Portaldata/15/Resources/images/abteilung/schpc/hpc_main_page/wordcloud-hpc-noBG_blau_380px.png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081334"/>
              </a:clrFrom>
              <a:clrTo>
                <a:srgbClr val="08133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" t="808" r="1045" b="827"/>
          <a:stretch/>
        </p:blipFill>
        <p:spPr bwMode="auto">
          <a:xfrm>
            <a:off x="5001370" y="3912041"/>
            <a:ext cx="3884214" cy="2759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/>
          <p:cNvSpPr txBox="1">
            <a:spLocks/>
          </p:cNvSpPr>
          <p:nvPr/>
        </p:nvSpPr>
        <p:spPr>
          <a:xfrm>
            <a:off x="155575" y="2211399"/>
            <a:ext cx="8457111" cy="40748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Dpts</a:t>
            </a:r>
            <a:r>
              <a:rPr lang="en-US" dirty="0"/>
              <a:t>. Physics, Env. Sc. &amp; Computing</a:t>
            </a:r>
          </a:p>
          <a:p>
            <a:r>
              <a:rPr lang="en-US" dirty="0"/>
              <a:t>MB, R. Puente, H. Davids,</a:t>
            </a:r>
            <a:br>
              <a:rPr lang="en-US" dirty="0"/>
            </a:br>
            <a:r>
              <a:rPr lang="en-US" dirty="0"/>
              <a:t>E. Kasai, A. Limbo, J. Shapopi,</a:t>
            </a:r>
            <a:br>
              <a:rPr lang="en-US" dirty="0"/>
            </a:br>
            <a:r>
              <a:rPr lang="en-US" dirty="0"/>
              <a:t>R. Steenkamp, H. Katjaita</a:t>
            </a:r>
          </a:p>
          <a:p>
            <a:r>
              <a:rPr lang="en-US" dirty="0"/>
              <a:t>Supported by office PVC: RID</a:t>
            </a:r>
          </a:p>
          <a:p>
            <a:r>
              <a:rPr lang="en-US" dirty="0"/>
              <a:t>Running HPC</a:t>
            </a:r>
          </a:p>
          <a:p>
            <a:r>
              <a:rPr lang="en-US" dirty="0"/>
              <a:t>     HPC capacity development</a:t>
            </a:r>
          </a:p>
          <a:p>
            <a:r>
              <a:rPr lang="en-US" dirty="0"/>
              <a:t>         Astrophysics &amp; AI research</a:t>
            </a:r>
          </a:p>
        </p:txBody>
      </p:sp>
    </p:spTree>
    <p:extLst>
      <p:ext uri="{BB962C8B-B14F-4D97-AF65-F5344CB8AC3E}">
        <p14:creationId xmlns:p14="http://schemas.microsoft.com/office/powerpoint/2010/main" val="3524897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Intelligence</a:t>
            </a:r>
            <a:endParaRPr lang="de-DE" dirty="0"/>
          </a:p>
        </p:txBody>
      </p:sp>
      <p:sp>
        <p:nvSpPr>
          <p:cNvPr id="63" name="Date Placeholder 6"/>
          <p:cNvSpPr>
            <a:spLocks noGrp="1"/>
          </p:cNvSpPr>
          <p:nvPr>
            <p:ph type="dt" sz="half" idx="2"/>
          </p:nvPr>
        </p:nvSpPr>
        <p:spPr>
          <a:xfrm>
            <a:off x="6598254" y="6356350"/>
            <a:ext cx="2057400" cy="365125"/>
          </a:xfrm>
        </p:spPr>
        <p:txBody>
          <a:bodyPr/>
          <a:lstStyle/>
          <a:p>
            <a:pPr>
              <a:defRPr/>
            </a:pPr>
            <a:r>
              <a:rPr lang="de-DE"/>
              <a:t>19/10/2021                       HPC workshop, vitual</a:t>
            </a:r>
            <a:endParaRPr lang="en-US" dirty="0"/>
          </a:p>
        </p:txBody>
      </p:sp>
      <p:sp>
        <p:nvSpPr>
          <p:cNvPr id="6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3792" y="6356350"/>
            <a:ext cx="4571258" cy="365125"/>
          </a:xfrm>
        </p:spPr>
        <p:txBody>
          <a:bodyPr/>
          <a:lstStyle/>
          <a:p>
            <a:pPr>
              <a:defRPr/>
            </a:pPr>
            <a:r>
              <a:rPr lang="en-US"/>
              <a:t>M. Backes: VISCAI &amp; Artificial Intelligence 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12F5AEC-EFD2-4725-A33D-D6E439D8C452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41839" y="5145321"/>
            <a:ext cx="8208912" cy="49337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/>
          </a:p>
        </p:txBody>
      </p:sp>
      <p:pic>
        <p:nvPicPr>
          <p:cNvPr id="6146" name="Picture 2" descr="https://www.blog.adva.com/-/media/blog/header-images/2020/200826-artificial-intelligence-machine-learning-min.jpg?rev=62ab2be4b57d42328647d19d75566d1f&amp;hash=B613A4A799AA2AFED56F73E9325AB2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40" y="1575034"/>
            <a:ext cx="8229600" cy="462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012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Intelligence</a:t>
            </a:r>
            <a:r>
              <a:rPr lang="de-DE" dirty="0"/>
              <a:t>: </a:t>
            </a:r>
            <a:r>
              <a:rPr lang="de-DE" dirty="0" err="1"/>
              <a:t>classification</a:t>
            </a:r>
            <a:endParaRPr lang="de-DE" dirty="0"/>
          </a:p>
        </p:txBody>
      </p:sp>
      <p:sp>
        <p:nvSpPr>
          <p:cNvPr id="63" name="Date Placeholder 6"/>
          <p:cNvSpPr>
            <a:spLocks noGrp="1"/>
          </p:cNvSpPr>
          <p:nvPr>
            <p:ph type="dt" sz="half" idx="2"/>
          </p:nvPr>
        </p:nvSpPr>
        <p:spPr>
          <a:xfrm>
            <a:off x="6598254" y="6356350"/>
            <a:ext cx="2057400" cy="365125"/>
          </a:xfrm>
        </p:spPr>
        <p:txBody>
          <a:bodyPr/>
          <a:lstStyle/>
          <a:p>
            <a:pPr>
              <a:defRPr/>
            </a:pPr>
            <a:r>
              <a:rPr lang="de-DE"/>
              <a:t>19/10/2021                       HPC workshop, vitual</a:t>
            </a:r>
            <a:endParaRPr lang="en-US" dirty="0"/>
          </a:p>
        </p:txBody>
      </p:sp>
      <p:sp>
        <p:nvSpPr>
          <p:cNvPr id="6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3792" y="6356350"/>
            <a:ext cx="4571258" cy="365125"/>
          </a:xfrm>
        </p:spPr>
        <p:txBody>
          <a:bodyPr/>
          <a:lstStyle/>
          <a:p>
            <a:pPr>
              <a:defRPr/>
            </a:pPr>
            <a:r>
              <a:rPr lang="en-US"/>
              <a:t>M. Backes: VISCAI &amp; Artificial Intelligence 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12F5AEC-EFD2-4725-A33D-D6E439D8C452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41839" y="5145321"/>
            <a:ext cx="8208912" cy="49337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/>
          </a:p>
        </p:txBody>
      </p:sp>
      <p:pic>
        <p:nvPicPr>
          <p:cNvPr id="7170" name="Picture 2" descr="https://content.thriveglobal.com/wp-content/uploads/2020/02/purposeneedle-in-a-haystack-JeffreyFlack1-thriveGlobal-LivingFearlessly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3" t="5242" r="3400" b="5071"/>
          <a:stretch/>
        </p:blipFill>
        <p:spPr bwMode="auto">
          <a:xfrm>
            <a:off x="1164866" y="1494845"/>
            <a:ext cx="6826196" cy="4766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03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Classification</a:t>
            </a:r>
            <a:r>
              <a:rPr lang="de-DE" dirty="0"/>
              <a:t>: ML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solution</a:t>
            </a:r>
            <a:endParaRPr lang="de-DE" dirty="0"/>
          </a:p>
        </p:txBody>
      </p:sp>
      <p:sp>
        <p:nvSpPr>
          <p:cNvPr id="63" name="Date Placeholder 6"/>
          <p:cNvSpPr>
            <a:spLocks noGrp="1"/>
          </p:cNvSpPr>
          <p:nvPr>
            <p:ph type="dt" sz="half" idx="2"/>
          </p:nvPr>
        </p:nvSpPr>
        <p:spPr>
          <a:xfrm>
            <a:off x="6598254" y="6356350"/>
            <a:ext cx="2057400" cy="365125"/>
          </a:xfrm>
        </p:spPr>
        <p:txBody>
          <a:bodyPr/>
          <a:lstStyle/>
          <a:p>
            <a:pPr>
              <a:defRPr/>
            </a:pPr>
            <a:r>
              <a:rPr lang="de-DE"/>
              <a:t>19/10/2021                       HPC workshop, vitual</a:t>
            </a:r>
            <a:endParaRPr lang="en-US" dirty="0"/>
          </a:p>
        </p:txBody>
      </p:sp>
      <p:sp>
        <p:nvSpPr>
          <p:cNvPr id="6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3792" y="6356350"/>
            <a:ext cx="4571258" cy="365125"/>
          </a:xfrm>
        </p:spPr>
        <p:txBody>
          <a:bodyPr/>
          <a:lstStyle/>
          <a:p>
            <a:pPr>
              <a:defRPr/>
            </a:pPr>
            <a:r>
              <a:rPr lang="en-US"/>
              <a:t>M. Backes: VISCAI &amp; Artificial Intelligence 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12F5AEC-EFD2-4725-A33D-D6E439D8C452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41839" y="5145321"/>
            <a:ext cx="8208912" cy="49337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/>
          </a:p>
        </p:txBody>
      </p:sp>
      <p:pic>
        <p:nvPicPr>
          <p:cNvPr id="8194" name="Picture 2" descr="https://images.squarespace-cdn.com/content/58261c4020099e94eacfcb0b/1569424912472-7JA8HFW6Z3TWT2BQ5YF6/haymagnet1500w.jpg?format=1500w&amp;content-type=image%2F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74" y="1663487"/>
            <a:ext cx="8139180" cy="4340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245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Classification</a:t>
            </a:r>
            <a:r>
              <a:rPr lang="de-DE" dirty="0"/>
              <a:t> Problems</a:t>
            </a:r>
          </a:p>
        </p:txBody>
      </p:sp>
      <p:sp>
        <p:nvSpPr>
          <p:cNvPr id="63" name="Date Placeholder 6"/>
          <p:cNvSpPr>
            <a:spLocks noGrp="1"/>
          </p:cNvSpPr>
          <p:nvPr>
            <p:ph type="dt" sz="half" idx="2"/>
          </p:nvPr>
        </p:nvSpPr>
        <p:spPr>
          <a:xfrm>
            <a:off x="6598254" y="6356350"/>
            <a:ext cx="2057400" cy="365125"/>
          </a:xfrm>
        </p:spPr>
        <p:txBody>
          <a:bodyPr/>
          <a:lstStyle/>
          <a:p>
            <a:pPr>
              <a:defRPr/>
            </a:pPr>
            <a:r>
              <a:rPr lang="de-DE"/>
              <a:t>19/10/2021                       HPC workshop, vitual</a:t>
            </a:r>
            <a:endParaRPr lang="en-US" dirty="0"/>
          </a:p>
        </p:txBody>
      </p:sp>
      <p:sp>
        <p:nvSpPr>
          <p:cNvPr id="6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3792" y="6356350"/>
            <a:ext cx="4571258" cy="365125"/>
          </a:xfrm>
        </p:spPr>
        <p:txBody>
          <a:bodyPr/>
          <a:lstStyle/>
          <a:p>
            <a:pPr>
              <a:defRPr/>
            </a:pPr>
            <a:r>
              <a:rPr lang="en-US"/>
              <a:t>M. Backes: VISCAI &amp; Artificial Intelligence 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12F5AEC-EFD2-4725-A33D-D6E439D8C452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41839" y="5145321"/>
            <a:ext cx="8208912" cy="49337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/>
          </a:p>
        </p:txBody>
      </p:sp>
      <p:pic>
        <p:nvPicPr>
          <p:cNvPr id="9218" name="Picture 2" descr="https://paperswithcode.com/media/tasks/classification-algorithm-in-machine-learning_ta1IkV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503" y="1413267"/>
            <a:ext cx="5645451" cy="5000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 descr="1. A Review of Machine Learning - Deep Learning [Book]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11"/>
          <a:stretch/>
        </p:blipFill>
        <p:spPr bwMode="auto">
          <a:xfrm>
            <a:off x="0" y="2184401"/>
            <a:ext cx="9079667" cy="2728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63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Classification</a:t>
            </a:r>
            <a:r>
              <a:rPr lang="de-DE" dirty="0"/>
              <a:t>: ML </a:t>
            </a:r>
            <a:r>
              <a:rPr lang="de-DE" dirty="0" err="1"/>
              <a:t>Algorithms</a:t>
            </a:r>
            <a:endParaRPr lang="de-DE" dirty="0"/>
          </a:p>
        </p:txBody>
      </p:sp>
      <p:sp>
        <p:nvSpPr>
          <p:cNvPr id="63" name="Date Placeholder 6"/>
          <p:cNvSpPr>
            <a:spLocks noGrp="1"/>
          </p:cNvSpPr>
          <p:nvPr>
            <p:ph type="dt" sz="half" idx="2"/>
          </p:nvPr>
        </p:nvSpPr>
        <p:spPr>
          <a:xfrm>
            <a:off x="6598254" y="6356350"/>
            <a:ext cx="2057400" cy="365125"/>
          </a:xfrm>
        </p:spPr>
        <p:txBody>
          <a:bodyPr/>
          <a:lstStyle/>
          <a:p>
            <a:pPr>
              <a:defRPr/>
            </a:pPr>
            <a:r>
              <a:rPr lang="de-DE"/>
              <a:t>19/10/2021                       HPC workshop, vitual</a:t>
            </a:r>
            <a:endParaRPr lang="en-US" dirty="0"/>
          </a:p>
        </p:txBody>
      </p:sp>
      <p:sp>
        <p:nvSpPr>
          <p:cNvPr id="6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3792" y="6356350"/>
            <a:ext cx="4571258" cy="365125"/>
          </a:xfrm>
        </p:spPr>
        <p:txBody>
          <a:bodyPr/>
          <a:lstStyle/>
          <a:p>
            <a:pPr>
              <a:defRPr/>
            </a:pPr>
            <a:r>
              <a:rPr lang="en-US"/>
              <a:t>M. Backes: VISCAI &amp; Artificial Intelligence 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12F5AEC-EFD2-4725-A33D-D6E439D8C452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41839" y="5145321"/>
            <a:ext cx="8208912" cy="49337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/>
          </a:p>
        </p:txBody>
      </p:sp>
      <p:pic>
        <p:nvPicPr>
          <p:cNvPr id="11" name="Picture 10" descr="https://www.sjsu.edu/faculty/guangliang.chen/Math285S16/classmethod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92" y="2081855"/>
            <a:ext cx="8999069" cy="3010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545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 txBox="1">
            <a:spLocks/>
          </p:cNvSpPr>
          <p:nvPr/>
        </p:nvSpPr>
        <p:spPr bwMode="auto">
          <a:xfrm>
            <a:off x="272955" y="4902115"/>
            <a:ext cx="2898613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 i="1" dirty="0">
                <a:latin typeface="Gotham" panose="02000504050000020004" pitchFamily="2" charset="0"/>
              </a:rPr>
              <a:t>Any questions?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AM Powerpoint Presentation  [Compatibility Mode]" id="{B3727DFD-9C20-43F3-806B-8B4FBA40DC49}" vid="{8B0CE34C-2FE4-4338-B2A8-A526A4FC7141}"/>
    </a:ext>
  </a:extLst>
</a:theme>
</file>

<file path=ppt/theme/theme2.xml><?xml version="1.0" encoding="utf-8"?>
<a:theme xmlns:a="http://schemas.openxmlformats.org/drawingml/2006/main" name="1_Office Theme">
  <a:themeElements>
    <a:clrScheme name="UNAM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A291C"/>
      </a:accent1>
      <a:accent2>
        <a:srgbClr val="FFB81C"/>
      </a:accent2>
      <a:accent3>
        <a:srgbClr val="8C857B"/>
      </a:accent3>
      <a:accent4>
        <a:srgbClr val="000000"/>
      </a:accent4>
      <a:accent5>
        <a:srgbClr val="000000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AM Powerpoint Presentation  [Compatibility Mode]" id="{B3727DFD-9C20-43F3-806B-8B4FBA40DC49}" vid="{8B0CE34C-2FE4-4338-B2A8-A526A4FC714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216</Words>
  <Application>Microsoft Office PowerPoint</Application>
  <PresentationFormat>Bildschirmpräsentation (4:3)</PresentationFormat>
  <Paragraphs>41</Paragraphs>
  <Slides>9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Gotham</vt:lpstr>
      <vt:lpstr>Wingdings 2</vt:lpstr>
      <vt:lpstr>Office Theme</vt:lpstr>
      <vt:lpstr>1_Office Theme</vt:lpstr>
      <vt:lpstr>UNAM’s Virtual Institute for Scientific Computing and Artificial Intelligence</vt:lpstr>
      <vt:lpstr>In SA: a National Institute</vt:lpstr>
      <vt:lpstr>VI-SCAI</vt:lpstr>
      <vt:lpstr>Artificial Intelligence</vt:lpstr>
      <vt:lpstr>Artificial Intelligence: classification</vt:lpstr>
      <vt:lpstr>Classification: ML as solution</vt:lpstr>
      <vt:lpstr>Classification Problems</vt:lpstr>
      <vt:lpstr>Classification: ML Algorithms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Communications &amp; Marketing PowerPoint Template</dc:title>
  <dc:creator>Rittmann, John</dc:creator>
  <cp:lastModifiedBy>Michael</cp:lastModifiedBy>
  <cp:revision>262</cp:revision>
  <dcterms:created xsi:type="dcterms:W3CDTF">2015-02-09T12:48:18Z</dcterms:created>
  <dcterms:modified xsi:type="dcterms:W3CDTF">2021-10-22T12:14:13Z</dcterms:modified>
</cp:coreProperties>
</file>